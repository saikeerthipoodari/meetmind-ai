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</p:embeddedFont>
    <p:embeddedFont>
      <p:font typeface="Inter Bold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1993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9DF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457" y="491232"/>
            <a:ext cx="4406492" cy="58755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355056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MeetMind AI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661475" y="2937867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Learning Block 1 — Generative AI Application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3444379"/>
            <a:ext cx="629686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by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MeetMind AI Project Team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Academic Project Submission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of [Department Name] · Academic Year: [Final / Pre-Final] – [20XX–20XX]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Guided by: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Mentor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0371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186491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Index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661475" y="262969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891631"/>
            <a:ext cx="3512653" cy="19050"/>
          </a:xfrm>
          <a:prstGeom prst="rect">
            <a:avLst/>
          </a:prstGeom>
          <a:solidFill>
            <a:srgbClr val="213163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012380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3370064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 of the application, its purpose, and key 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39422" y="262969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9422" y="2891631"/>
            <a:ext cx="3512752" cy="19050"/>
          </a:xfrm>
          <a:prstGeom prst="rect">
            <a:avLst/>
          </a:prstGeom>
          <a:solidFill>
            <a:srgbClr val="213163"/>
          </a:solidFill>
          <a:ln/>
        </p:spPr>
      </p:sp>
      <p:sp>
        <p:nvSpPr>
          <p:cNvPr id="10" name="Text 8"/>
          <p:cNvSpPr/>
          <p:nvPr/>
        </p:nvSpPr>
        <p:spPr>
          <a:xfrm>
            <a:off x="4339422" y="3012380"/>
            <a:ext cx="35127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 &amp; Objectives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39422" y="3370064"/>
            <a:ext cx="351275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real-world gap this project addresses and measurable goals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17468" y="262969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17468" y="2891631"/>
            <a:ext cx="3512653" cy="19050"/>
          </a:xfrm>
          <a:prstGeom prst="rect">
            <a:avLst/>
          </a:prstGeom>
          <a:solidFill>
            <a:srgbClr val="213163"/>
          </a:solidFill>
          <a:ln/>
        </p:spPr>
      </p:sp>
      <p:sp>
        <p:nvSpPr>
          <p:cNvPr id="14" name="Text 12"/>
          <p:cNvSpPr/>
          <p:nvPr/>
        </p:nvSpPr>
        <p:spPr>
          <a:xfrm>
            <a:off x="8017468" y="3012380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Scope &amp; Methodology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17468" y="3370064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boundaries, target users, and end-to-end approach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418861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450556"/>
            <a:ext cx="5351626" cy="19050"/>
          </a:xfrm>
          <a:prstGeom prst="rect">
            <a:avLst/>
          </a:prstGeom>
          <a:solidFill>
            <a:srgbClr val="213163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571305"/>
            <a:ext cx="535162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 &amp; Implementation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475" y="4928989"/>
            <a:ext cx="53516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design, technology stack, and integration details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8395" y="418861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8395" y="4450556"/>
            <a:ext cx="5351725" cy="19050"/>
          </a:xfrm>
          <a:prstGeom prst="rect">
            <a:avLst/>
          </a:prstGeom>
          <a:solidFill>
            <a:srgbClr val="213163"/>
          </a:solidFill>
          <a:ln/>
        </p:spPr>
      </p:sp>
      <p:sp>
        <p:nvSpPr>
          <p:cNvPr id="22" name="Text 20"/>
          <p:cNvSpPr/>
          <p:nvPr/>
        </p:nvSpPr>
        <p:spPr>
          <a:xfrm>
            <a:off x="6178395" y="4571305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Results, Challenges &amp; Future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8395" y="4928989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walkthrough, limitations, conclusion, and roadmap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9DF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848" y="475754"/>
            <a:ext cx="4429709" cy="59064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514747"/>
            <a:ext cx="781725" cy="215801"/>
          </a:xfrm>
          <a:prstGeom prst="roundRect">
            <a:avLst>
              <a:gd name="adj" fmla="val 22130"/>
            </a:avLst>
          </a:prstGeom>
          <a:solidFill>
            <a:srgbClr val="D9DFF2"/>
          </a:solidFill>
          <a:ln/>
        </p:spPr>
      </p:sp>
      <p:sp>
        <p:nvSpPr>
          <p:cNvPr id="5" name="Text 2"/>
          <p:cNvSpPr/>
          <p:nvPr/>
        </p:nvSpPr>
        <p:spPr>
          <a:xfrm>
            <a:off x="746702" y="557312"/>
            <a:ext cx="1220856" cy="130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1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61475" y="779363"/>
            <a:ext cx="6296860" cy="444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</a:t>
            </a:r>
            <a:endParaRPr lang="en-US" sz="2750" dirty="0"/>
          </a:p>
        </p:txBody>
      </p:sp>
      <p:sp>
        <p:nvSpPr>
          <p:cNvPr id="7" name="Text 4"/>
          <p:cNvSpPr/>
          <p:nvPr/>
        </p:nvSpPr>
        <p:spPr>
          <a:xfrm>
            <a:off x="661475" y="1406624"/>
            <a:ext cx="6296860" cy="8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MeetMind AI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Generative AI–powered web application designed to [one-line summary of what it does]. The application addresses a genuine, well-defined real-world need faced by [target user group], providing an intelligent, automated alternative to existing manual or rule-based approaches.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89684"/>
            <a:ext cx="284255" cy="2842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1475" y="2826544"/>
            <a:ext cx="629686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Role of GenAI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61475" y="3121819"/>
            <a:ext cx="6296860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Generative AI drives grounded query answering, summarization, classification, and structured extraction at the core of the application, producing structured text and evidence-linked meeting intelligence outputs.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788966"/>
            <a:ext cx="284255" cy="2842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1475" y="4225826"/>
            <a:ext cx="629686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61475" y="4521101"/>
            <a:ext cx="6296860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application offers 3–5 primary user-facing features including transcript intelligence, decision and action extraction, grounded meeting assistant, and reports, sharing, and follow-up.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188248"/>
            <a:ext cx="284255" cy="2842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1475" y="5625108"/>
            <a:ext cx="629686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Audience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61475" y="5920383"/>
            <a:ext cx="6296860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[specific user group] who require [specific capability], making their workflow faster, smarter, and more effective.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73684"/>
            <a:ext cx="936899" cy="251420"/>
          </a:xfrm>
          <a:prstGeom prst="roundRect">
            <a:avLst>
              <a:gd name="adj" fmla="val 22103"/>
            </a:avLst>
          </a:prstGeom>
          <a:solidFill>
            <a:srgbClr val="D9DFF2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423293"/>
            <a:ext cx="134805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69118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542415" y="2455962"/>
            <a:ext cx="5470785" cy="3028355"/>
          </a:xfrm>
          <a:prstGeom prst="roundRect">
            <a:avLst>
              <a:gd name="adj" fmla="val 3932"/>
            </a:avLst>
          </a:prstGeom>
          <a:solidFill>
            <a:srgbClr val="213163"/>
          </a:solidFill>
          <a:ln/>
        </p:spPr>
      </p:sp>
      <p:sp>
        <p:nvSpPr>
          <p:cNvPr id="6" name="Text 4"/>
          <p:cNvSpPr/>
          <p:nvPr/>
        </p:nvSpPr>
        <p:spPr>
          <a:xfrm>
            <a:off x="707710" y="2621260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 Today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3045023"/>
            <a:ext cx="5140196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currently face [specific inefficiency or difficulty] when attempting to [task]. Existing tools rely on [manual effort / rule-based logic], leading to [time delays / inaccuracies / high effort]. The gap between what users need and what current solutions offer is significant.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7710" y="4516934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and error-prone manual workflows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Rigid rule-based tools that cannot adapt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effort with inconsistent output quality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262126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GenAI is the Answer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3904" y="3045023"/>
            <a:ext cx="52326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Generative AI–based solution is uniquely suited to this problem because it can understand natural language input, reason over context, and generate nuanced, high-quality output at scale — something no rule-based system can replicate.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3904" y="4252317"/>
            <a:ext cx="5232666" cy="1174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 saved: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Automation reduces effort from hours to seconds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Accuracy gained: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AI-driven reasoning outperforms rigid rules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Outcome: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Users receive a searchable, reviewable meeting record with clear next steps, transforming their workflow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9999"/>
            <a:ext cx="878858" cy="235446"/>
          </a:xfrm>
          <a:prstGeom prst="roundRect">
            <a:avLst>
              <a:gd name="adj" fmla="val 22127"/>
            </a:avLst>
          </a:prstGeom>
          <a:solidFill>
            <a:srgbClr val="D9DFF2"/>
          </a:solidFill>
          <a:ln/>
        </p:spPr>
      </p:sp>
      <p:sp>
        <p:nvSpPr>
          <p:cNvPr id="3" name="Text 1"/>
          <p:cNvSpPr/>
          <p:nvPr/>
        </p:nvSpPr>
        <p:spPr>
          <a:xfrm>
            <a:off x="754441" y="516434"/>
            <a:ext cx="1302511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63588"/>
            <a:ext cx="10868745" cy="48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Objectives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1466056"/>
            <a:ext cx="11478330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following objectives are measurable and directly map to deliverables present in the finished application.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1475" y="1869877"/>
            <a:ext cx="348844" cy="348853"/>
          </a:xfrm>
          <a:prstGeom prst="roundRect">
            <a:avLst>
              <a:gd name="adj" fmla="val 18668"/>
            </a:avLst>
          </a:prstGeom>
          <a:solidFill>
            <a:srgbClr val="D9DFF2"/>
          </a:solidFill>
          <a:ln w="6350">
            <a:solidFill>
              <a:srgbClr val="BFC5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9616" y="1898948"/>
            <a:ext cx="2325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55671" y="1923157"/>
            <a:ext cx="1037454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a Functional, Deployable Application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55671" y="2252563"/>
            <a:ext cx="10374549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complete, working GenAI-based website or application that is accessible to end users without technical setup.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1475" y="2783582"/>
            <a:ext cx="348844" cy="348853"/>
          </a:xfrm>
          <a:prstGeom prst="roundRect">
            <a:avLst>
              <a:gd name="adj" fmla="val 18668"/>
            </a:avLst>
          </a:prstGeom>
          <a:solidFill>
            <a:srgbClr val="D9DFF2"/>
          </a:solidFill>
          <a:ln w="6350">
            <a:solidFill>
              <a:srgbClr val="BFC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9616" y="2812653"/>
            <a:ext cx="2325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55671" y="2836863"/>
            <a:ext cx="1037454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 an Appropriate GenAI Model or API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55671" y="3166269"/>
            <a:ext cx="10374549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and integrate a Generative AI model or API — such as OpenAI-compatible provider through a server-side adapter, with a provider-safe demo mode — that is well-matched to the identified problem domain.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1475" y="3937595"/>
            <a:ext cx="348844" cy="348853"/>
          </a:xfrm>
          <a:prstGeom prst="roundRect">
            <a:avLst>
              <a:gd name="adj" fmla="val 18668"/>
            </a:avLst>
          </a:prstGeom>
          <a:solidFill>
            <a:srgbClr val="D9DFF2"/>
          </a:solidFill>
          <a:ln w="6350">
            <a:solidFill>
              <a:srgbClr val="BFC5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9616" y="3966666"/>
            <a:ext cx="2325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55671" y="3990876"/>
            <a:ext cx="1037454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Effective Prompts and Inputs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55671" y="4320282"/>
            <a:ext cx="10374549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 structured prompts or input schemas that consistently yield accurate, relevant, and useful AI-generated responses.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1475" y="4851301"/>
            <a:ext cx="348844" cy="348853"/>
          </a:xfrm>
          <a:prstGeom prst="roundRect">
            <a:avLst>
              <a:gd name="adj" fmla="val 18668"/>
            </a:avLst>
          </a:prstGeom>
          <a:solidFill>
            <a:srgbClr val="D9DFF2"/>
          </a:solidFill>
          <a:ln w="6350">
            <a:solidFill>
              <a:srgbClr val="BFC5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9616" y="4880372"/>
            <a:ext cx="2325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55671" y="4904581"/>
            <a:ext cx="1037454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Deliver an Intuitive User Interface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55671" y="5233988"/>
            <a:ext cx="10374549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implement a clean, accessible, and user-friendly frontend that requires no technical expertise to operate.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1475" y="5765006"/>
            <a:ext cx="348844" cy="348853"/>
          </a:xfrm>
          <a:prstGeom prst="roundRect">
            <a:avLst>
              <a:gd name="adj" fmla="val 18668"/>
            </a:avLst>
          </a:prstGeom>
          <a:solidFill>
            <a:srgbClr val="D9DFF2"/>
          </a:solidFill>
          <a:ln w="6350">
            <a:solidFill>
              <a:srgbClr val="BFC5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9616" y="5794077"/>
            <a:ext cx="2325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55671" y="5818287"/>
            <a:ext cx="1037454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Evaluate Output Quality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55671" y="6147693"/>
            <a:ext cx="10374549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 the accuracy, relevance, and overall quality of the AI-generated outputs through structured testing and user feedback.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6320"/>
            <a:ext cx="941662" cy="251420"/>
          </a:xfrm>
          <a:prstGeom prst="roundRect">
            <a:avLst>
              <a:gd name="adj" fmla="val 22103"/>
            </a:avLst>
          </a:prstGeom>
          <a:solidFill>
            <a:srgbClr val="D9DFF2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605929"/>
            <a:ext cx="1352814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382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Scope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803896"/>
            <a:ext cx="579621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Included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48396"/>
            <a:ext cx="2815460" cy="18509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2017" y="2432745"/>
            <a:ext cx="237057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 Cases Covered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2017" y="2856508"/>
            <a:ext cx="237057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[Specific problem domain and use case(s)] — clearly defined and implemented in this version.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2229" y="2248396"/>
            <a:ext cx="2815460" cy="18509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02771" y="2432745"/>
            <a:ext cx="237057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Users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902771" y="2856508"/>
            <a:ext cx="237057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that run recurring product, project, sprint, client, and management meetings with requirements including traceable evidence and secure, actionable follow-through.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264620"/>
            <a:ext cx="2815460" cy="18509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22017" y="4448969"/>
            <a:ext cx="237057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GenAI Features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22017" y="4872732"/>
            <a:ext cx="237057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powered by AI in this release: evidence-linked summaries, decision and action intelligence, meeting Q&amp;A and search.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2229" y="4264620"/>
            <a:ext cx="2815460" cy="18509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02771" y="4448969"/>
            <a:ext cx="237057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/ Output Types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3902771" y="4872732"/>
            <a:ext cx="237057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Accepts meeting recordings, transcripts, live captions, and natural-language questions and produces summaries, decisions, actions, risks, questions, reports, and grounded answers as output.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867452" y="1803896"/>
            <a:ext cx="466901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Limitations &amp; Boundaries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6867452" y="2248396"/>
            <a:ext cx="4669018" cy="1174055"/>
          </a:xfrm>
          <a:prstGeom prst="roundRect">
            <a:avLst>
              <a:gd name="adj" fmla="val 5917"/>
            </a:avLst>
          </a:prstGeom>
          <a:solidFill>
            <a:srgbClr val="FCF2B5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747" y="2500809"/>
            <a:ext cx="206667" cy="16529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04709" y="2438499"/>
            <a:ext cx="396646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following are known boundaries of this version and are addressed in the Future Scope section.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6867452" y="3608487"/>
            <a:ext cx="4669018" cy="2083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Multilingual support is implemented through localization catalogs and configurable translation providers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Dependent on external API availability and rate limits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dedicated mobile application in this release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or domain coverage is limited to authorized workspace meetings and the included Apollo demo dataset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cases involving uncertain ownership, missing evidence, and provider outages are not yet handled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0580"/>
            <a:ext cx="569402" cy="152995"/>
          </a:xfrm>
          <a:prstGeom prst="roundRect">
            <a:avLst>
              <a:gd name="adj" fmla="val 22134"/>
            </a:avLst>
          </a:prstGeom>
          <a:solidFill>
            <a:srgbClr val="D9DFF2"/>
          </a:solidFill>
          <a:ln/>
        </p:spPr>
      </p:sp>
      <p:sp>
        <p:nvSpPr>
          <p:cNvPr id="3" name="Text 1"/>
          <p:cNvSpPr/>
          <p:nvPr/>
        </p:nvSpPr>
        <p:spPr>
          <a:xfrm>
            <a:off x="721898" y="540742"/>
            <a:ext cx="1058141" cy="92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5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61475" y="688082"/>
            <a:ext cx="10868745" cy="315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System / Methodology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61475" y="1095177"/>
            <a:ext cx="1147833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application follows a structured end-to-end pipeline — from user input collection through AI processing to final output delivery.</a:t>
            </a:r>
            <a:endParaRPr lang="en-US" sz="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294011"/>
            <a:ext cx="10520595" cy="39479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36045" y="4130688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 Display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336215" y="4130688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Response Processing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347253" y="4130688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GenAI Model API Call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358291" y="4130688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Prompt Construction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325854" y="4283532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Input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61475" y="5372398"/>
            <a:ext cx="642286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Step-by-Step Process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61475" y="5591274"/>
            <a:ext cx="6422864" cy="734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7000"/>
              </a:lnSpc>
              <a:buSzPct val="100000"/>
              <a:buFont typeface="+mj-lt"/>
              <a:buAutoNum type="arabicPeriod"/>
            </a:pPr>
            <a:r>
              <a:rPr lang="en-US" sz="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Input:</a:t>
            </a: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user provides [text prompt / form data / file upload] via the application interface.</a:t>
            </a:r>
            <a:endParaRPr lang="en-US" sz="750" dirty="0"/>
          </a:p>
          <a:p>
            <a:pPr marL="152400" indent="-152400" algn="l">
              <a:lnSpc>
                <a:spcPct val="107000"/>
              </a:lnSpc>
              <a:buSzPct val="100000"/>
              <a:buFont typeface="+mj-lt"/>
              <a:buAutoNum type="arabicPeriod" startAt="2"/>
            </a:pPr>
            <a:r>
              <a:rPr lang="en-US" sz="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Prompt Construction:</a:t>
            </a: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raw input is enriched with context, constraints, and formatting instructions to build an effective prompt.</a:t>
            </a:r>
            <a:endParaRPr lang="en-US" sz="750" dirty="0"/>
          </a:p>
          <a:p>
            <a:pPr marL="152400" indent="-152400" algn="l">
              <a:lnSpc>
                <a:spcPct val="107000"/>
              </a:lnSpc>
              <a:buSzPct val="100000"/>
              <a:buFont typeface="+mj-lt"/>
              <a:buAutoNum type="arabicPeriod" startAt="3"/>
            </a:pPr>
            <a:r>
              <a:rPr lang="en-US" sz="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Call:</a:t>
            </a: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constructed prompt is sent to the a provider-independent AI adapter with a grounded demo provider and optional OpenAI provider via a secure authenticated request.</a:t>
            </a:r>
            <a:endParaRPr lang="en-US" sz="750" dirty="0"/>
          </a:p>
          <a:p>
            <a:pPr marL="152400" indent="-152400" algn="l">
              <a:lnSpc>
                <a:spcPct val="107000"/>
              </a:lnSpc>
              <a:buSzPct val="100000"/>
              <a:buFont typeface="+mj-lt"/>
              <a:buAutoNum type="arabicPeriod" startAt="4"/>
            </a:pPr>
            <a:r>
              <a:rPr lang="en-US" sz="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Processing:</a:t>
            </a: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model generates a response, which is parsed, validated, and post-processed as needed.</a:t>
            </a:r>
            <a:endParaRPr lang="en-US" sz="750" dirty="0"/>
          </a:p>
          <a:p>
            <a:pPr marL="152400" indent="-152400" algn="l">
              <a:lnSpc>
                <a:spcPct val="107000"/>
              </a:lnSpc>
              <a:buSzPct val="100000"/>
              <a:buFont typeface="+mj-lt"/>
              <a:buAutoNum type="arabicPeriod" startAt="5"/>
            </a:pPr>
            <a:r>
              <a:rPr lang="en-US" sz="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 Display:</a:t>
            </a: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formatted result is rendered back to the user in a clear, readable, and actionable format.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336547" y="5372398"/>
            <a:ext cx="419992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Design Decisions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336547" y="5591274"/>
            <a:ext cx="4199924" cy="432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7000"/>
              </a:lnSpc>
              <a:buSzPct val="100000"/>
              <a:buChar char="•"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templates are parameterised for consistency</a:t>
            </a:r>
            <a:endParaRPr lang="en-US" sz="750" dirty="0"/>
          </a:p>
          <a:p>
            <a:pPr marL="152400" indent="-152400" algn="l">
              <a:lnSpc>
                <a:spcPct val="107000"/>
              </a:lnSpc>
              <a:buSzPct val="100000"/>
              <a:buChar char="•"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sanitisation prevents injection or misuse</a:t>
            </a:r>
            <a:endParaRPr lang="en-US" sz="750" dirty="0"/>
          </a:p>
          <a:p>
            <a:pPr marL="152400" indent="-152400" algn="l">
              <a:lnSpc>
                <a:spcPct val="107000"/>
              </a:lnSpc>
              <a:buSzPct val="100000"/>
              <a:buChar char="•"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handling ensures graceful failure on API errors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4819"/>
            <a:ext cx="468896" cy="125710"/>
          </a:xfrm>
          <a:prstGeom prst="roundRect">
            <a:avLst>
              <a:gd name="adj" fmla="val 22103"/>
            </a:avLst>
          </a:prstGeom>
          <a:solidFill>
            <a:srgbClr val="D9DFF2"/>
          </a:solidFill>
          <a:ln/>
        </p:spPr>
      </p:sp>
      <p:sp>
        <p:nvSpPr>
          <p:cNvPr id="3" name="Text 1"/>
          <p:cNvSpPr/>
          <p:nvPr/>
        </p:nvSpPr>
        <p:spPr>
          <a:xfrm>
            <a:off x="711083" y="479623"/>
            <a:ext cx="979265" cy="7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6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61475" y="59699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 &amp; Workflow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917476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architecture separates the React frontend, FastAPI backend, SQLAlchemy persistence, storage abstraction, and provider adapters. User requests are authenticated, scoped to authorized meetings, processed server-side, and returned with evidence references.</a:t>
            </a:r>
            <a:endParaRPr lang="en-US" sz="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63030"/>
            <a:ext cx="9753356" cy="548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6637139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Layer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61475" y="6807597"/>
            <a:ext cx="5333569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interact through a browser-based UI. All input is collected via forms or chat interfaces and validated before being forwarded to the backend.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6203001" y="6637139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&amp; AI Layer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203001" y="6807597"/>
            <a:ext cx="5333569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server constructs prompts, authenticates API calls to the GenAI service, processes the returned response, and delivers the final output to the frontend.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00658"/>
            <a:ext cx="901677" cy="243384"/>
          </a:xfrm>
          <a:prstGeom prst="roundRect">
            <a:avLst>
              <a:gd name="adj" fmla="val 22119"/>
            </a:avLst>
          </a:prstGeom>
          <a:solidFill>
            <a:srgbClr val="D9DFF2"/>
          </a:solidFill>
          <a:ln/>
        </p:spPr>
      </p:sp>
      <p:sp>
        <p:nvSpPr>
          <p:cNvPr id="3" name="Text 1"/>
          <p:cNvSpPr/>
          <p:nvPr/>
        </p:nvSpPr>
        <p:spPr>
          <a:xfrm>
            <a:off x="757516" y="548680"/>
            <a:ext cx="1319179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06053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Implementation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694656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61475" y="2119511"/>
            <a:ext cx="2541822" cy="1495425"/>
          </a:xfrm>
          <a:prstGeom prst="roundRect">
            <a:avLst>
              <a:gd name="adj" fmla="val 4500"/>
            </a:avLst>
          </a:prstGeom>
          <a:solidFill>
            <a:srgbClr val="D9DFF2"/>
          </a:solidFill>
          <a:ln w="6350">
            <a:solidFill>
              <a:srgbClr val="BFC5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7960" y="2286000"/>
            <a:ext cx="2208852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7960" y="2691507"/>
            <a:ext cx="2208852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[HTML / CSS / JavaScript / React / Vue] — UI design and user interaction layer.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58471" y="2119511"/>
            <a:ext cx="2541921" cy="1495425"/>
          </a:xfrm>
          <a:prstGeom prst="roundRect">
            <a:avLst>
              <a:gd name="adj" fmla="val 4500"/>
            </a:avLst>
          </a:prstGeom>
          <a:solidFill>
            <a:srgbClr val="D9DFF2"/>
          </a:solidFill>
          <a:ln w="6350">
            <a:solidFill>
              <a:srgbClr val="BFC5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4956" y="2286000"/>
            <a:ext cx="2208951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524956" y="2691507"/>
            <a:ext cx="2208951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[Python / Node.js / Flask / FastAPI / Express] — server-side logic and API routing.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1475" y="3770114"/>
            <a:ext cx="5238917" cy="1243112"/>
          </a:xfrm>
          <a:prstGeom prst="roundRect">
            <a:avLst>
              <a:gd name="adj" fmla="val 5413"/>
            </a:avLst>
          </a:prstGeom>
          <a:solidFill>
            <a:srgbClr val="D9DFF2"/>
          </a:solidFill>
          <a:ln w="6350">
            <a:solidFill>
              <a:srgbClr val="BFC5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960" y="3936603"/>
            <a:ext cx="490594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GenAI Model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27960" y="4342110"/>
            <a:ext cx="4905947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[OpenAI GPT-4 / Gemini / Claude / other] API — core AI generation engine.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97653" y="1694656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Integration &amp; Prompt Engineering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297653" y="2100163"/>
            <a:ext cx="5238917" cy="1148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spcAft>
                <a:spcPts val="10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GenAI model is integrated via authenticated REST API calls using the provider's official SDK. API keys are stored securely in environment variables and never exposed on the client side.</a:t>
            </a:r>
            <a:endParaRPr lang="en-US" sz="12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Prompts are constructed dynamically using a template system: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97653" y="3423543"/>
            <a:ext cx="5238917" cy="2114947"/>
          </a:xfrm>
          <a:prstGeom prst="roundRect">
            <a:avLst>
              <a:gd name="adj" fmla="val 3182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6489835" y="3583682"/>
            <a:ext cx="4854553" cy="1794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system_prompt = "You are a helpful assistant that..."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user_input = request.form["query"]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final_prompt = f"{system_prompt}\nUser: {user_input}"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openai.chat.completions.create(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model="gpt-4",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messages=[{"role":"user","content":final_prompt}]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97653" y="5713016"/>
            <a:ext cx="5238917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response is parsed, sanitised, and rendered as HTML or structured JSON on the frontend.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5773"/>
            <a:ext cx="894335" cy="239415"/>
          </a:xfrm>
          <a:prstGeom prst="roundRect">
            <a:avLst>
              <a:gd name="adj" fmla="val 22123"/>
            </a:avLst>
          </a:prstGeom>
          <a:solidFill>
            <a:srgbClr val="D9DFF2"/>
          </a:solidFill>
          <a:ln/>
        </p:spPr>
      </p:sp>
      <p:sp>
        <p:nvSpPr>
          <p:cNvPr id="3" name="Text 1"/>
          <p:cNvSpPr/>
          <p:nvPr/>
        </p:nvSpPr>
        <p:spPr>
          <a:xfrm>
            <a:off x="756028" y="673001"/>
            <a:ext cx="1314814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8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25215"/>
            <a:ext cx="10868745" cy="49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Interface &amp; Application Screenshots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61475" y="1643162"/>
            <a:ext cx="10868745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following screens represent the complete user journey through the application — from landing on the home screen to receiving AI-generated results.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04653"/>
            <a:ext cx="1854947" cy="11464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3638848"/>
            <a:ext cx="2576349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Home / Main Screen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61475" y="3975199"/>
            <a:ext cx="2576349" cy="1231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application's landing page, showing navigation, a brief description of functionality, and the primary call-to-action to begin.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5541" y="2304653"/>
            <a:ext cx="1854947" cy="11464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5541" y="3638848"/>
            <a:ext cx="2576448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/ Prompt Screen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3425541" y="3975199"/>
            <a:ext cx="2576448" cy="985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enter their query, upload a file, or fill in structured form fields. Input is validated before submission to the AI backend.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9706" y="2304653"/>
            <a:ext cx="1854947" cy="11464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89706" y="3638848"/>
            <a:ext cx="2576349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Processing / Loading State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189706" y="3975199"/>
            <a:ext cx="2576349" cy="1231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loading indicator confirms the AI request is in progress, preventing repeated submissions and maintaining a smooth user experience.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772" y="2304653"/>
            <a:ext cx="1854947" cy="114647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53772" y="3638848"/>
            <a:ext cx="2576448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AI-Generated Output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8953772" y="3975199"/>
            <a:ext cx="2576448" cy="985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displays the GenAI-generated response — formatted, readable, and ready for the user to act on or download.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61475" y="5375473"/>
            <a:ext cx="10868745" cy="856655"/>
          </a:xfrm>
          <a:prstGeom prst="roundRect">
            <a:avLst>
              <a:gd name="adj" fmla="val 7729"/>
            </a:avLst>
          </a:prstGeom>
          <a:solidFill>
            <a:srgbClr val="B6D6FC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030" y="5592266"/>
            <a:ext cx="197044" cy="15755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73629" y="5565080"/>
            <a:ext cx="10199035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Screens shown in this section should be captured from the running MeetMind AI application at the dashboard, meeting room, intelligence view, and assistant panel.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6987"/>
            <a:ext cx="894534" cy="239415"/>
          </a:xfrm>
          <a:prstGeom prst="roundRect">
            <a:avLst>
              <a:gd name="adj" fmla="val 22123"/>
            </a:avLst>
          </a:prstGeom>
          <a:solidFill>
            <a:srgbClr val="D9DFF2"/>
          </a:solidFill>
          <a:ln/>
        </p:spPr>
      </p:sp>
      <p:sp>
        <p:nvSpPr>
          <p:cNvPr id="3" name="Text 1"/>
          <p:cNvSpPr/>
          <p:nvPr/>
        </p:nvSpPr>
        <p:spPr>
          <a:xfrm>
            <a:off x="756028" y="544215"/>
            <a:ext cx="1315012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9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96429"/>
            <a:ext cx="10868745" cy="49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&amp; Limitations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61475" y="1664593"/>
            <a:ext cx="524209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Challenges Faced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509" y="2084685"/>
            <a:ext cx="236432" cy="2364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3629" y="2079823"/>
            <a:ext cx="4729937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Selection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73629" y="2476302"/>
            <a:ext cx="4729937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Evaluating and selecting the right GenAI model required testing multiple APIs for output quality, latency, and cost suitability.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509" y="3274120"/>
            <a:ext cx="236432" cy="2364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3629" y="3269258"/>
            <a:ext cx="4729937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Prompt Engineering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173629" y="3665736"/>
            <a:ext cx="4729937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Crafting reliable prompts that consistently produce accurate, well-formatted outputs required iterative refinement and extensive testing.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509" y="4709815"/>
            <a:ext cx="236432" cy="2364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73629" y="4704953"/>
            <a:ext cx="4729937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Unexpected AI Outputs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173629" y="5101431"/>
            <a:ext cx="4729937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occasionally produced incomplete or off-topic responses. These were handled via output validation, retries, and fallback messages.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294478" y="1664593"/>
            <a:ext cx="524209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Limitations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6294478" y="2079823"/>
            <a:ext cx="2545889" cy="2473523"/>
          </a:xfrm>
          <a:prstGeom prst="roundRect">
            <a:avLst>
              <a:gd name="adj" fmla="val 2677"/>
            </a:avLst>
          </a:prstGeom>
          <a:solidFill>
            <a:srgbClr val="FFFFFF"/>
          </a:solidFill>
          <a:ln w="19050">
            <a:solidFill>
              <a:srgbClr val="BFC5D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471083" y="2256433"/>
            <a:ext cx="2192680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Dependency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471083" y="2652911"/>
            <a:ext cx="2192680" cy="1231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application requires continuous access to an external API. Downtime or rate-limiting directly impacts availability.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90581" y="2079823"/>
            <a:ext cx="2545989" cy="2473523"/>
          </a:xfrm>
          <a:prstGeom prst="roundRect">
            <a:avLst>
              <a:gd name="adj" fmla="val 2677"/>
            </a:avLst>
          </a:prstGeom>
          <a:solidFill>
            <a:srgbClr val="FFFFFF"/>
          </a:solidFill>
          <a:ln w="19050">
            <a:solidFill>
              <a:srgbClr val="BFC5D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167186" y="2256433"/>
            <a:ext cx="2192779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Token &amp; Cost Constraints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9167186" y="2899172"/>
            <a:ext cx="2192779" cy="1477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limits restrict the length of input and output. High API usage incurs cost, making large-scale deployment expensive without optimisation.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94478" y="4703564"/>
            <a:ext cx="5242092" cy="1488480"/>
          </a:xfrm>
          <a:prstGeom prst="roundRect">
            <a:avLst>
              <a:gd name="adj" fmla="val 4448"/>
            </a:avLst>
          </a:prstGeom>
          <a:solidFill>
            <a:srgbClr val="FFFFFF"/>
          </a:solidFill>
          <a:ln w="19050">
            <a:solidFill>
              <a:srgbClr val="BFC5D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71083" y="4880173"/>
            <a:ext cx="488888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&amp; Privacy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6471083" y="5276652"/>
            <a:ext cx="4888882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User-provided data is sent to a third-party API. Sensitive inputs must be flagged, and data handling policies must be clearly communicated.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9DF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457" y="491232"/>
            <a:ext cx="4406492" cy="58755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644823"/>
            <a:ext cx="993452" cy="251420"/>
          </a:xfrm>
          <a:prstGeom prst="roundRect">
            <a:avLst>
              <a:gd name="adj" fmla="val 22103"/>
            </a:avLst>
          </a:prstGeom>
          <a:solidFill>
            <a:srgbClr val="D9DFF2"/>
          </a:solidFill>
          <a:ln/>
        </p:spPr>
      </p:sp>
      <p:sp>
        <p:nvSpPr>
          <p:cNvPr id="5" name="Text 2"/>
          <p:cNvSpPr/>
          <p:nvPr/>
        </p:nvSpPr>
        <p:spPr>
          <a:xfrm>
            <a:off x="760691" y="694432"/>
            <a:ext cx="140460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10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1475" y="962323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3250" dirty="0"/>
          </a:p>
        </p:txBody>
      </p:sp>
      <p:sp>
        <p:nvSpPr>
          <p:cNvPr id="7" name="Text 4"/>
          <p:cNvSpPr/>
          <p:nvPr/>
        </p:nvSpPr>
        <p:spPr>
          <a:xfrm>
            <a:off x="661475" y="1727101"/>
            <a:ext cx="6296860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demonstrates a GenAI-powered meeting intelligence application for product, engineering, operations, and client-facing teams. MeetMind AI automates transcript analysis and follow-up preparation while preserving source evidence and refusing unsupported claims.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61475" y="3236218"/>
            <a:ext cx="6296860" cy="2976959"/>
          </a:xfrm>
          <a:prstGeom prst="roundRect">
            <a:avLst>
              <a:gd name="adj" fmla="val 2333"/>
            </a:avLst>
          </a:prstGeom>
          <a:solidFill>
            <a:srgbClr val="D9DFF2"/>
          </a:solidFill>
          <a:ln w="6350">
            <a:solidFill>
              <a:srgbClr val="BFC5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67825" y="3242568"/>
            <a:ext cx="3142080" cy="1746746"/>
          </a:xfrm>
          <a:custGeom>
            <a:avLst/>
            <a:gdLst/>
            <a:ahLst/>
            <a:cxnLst/>
            <a:rect l="l" t="t" r="r" b="b"/>
            <a:pathLst>
              <a:path w="3142080" h="1746746">
                <a:moveTo>
                  <a:pt x="57887" y="0"/>
                </a:moveTo>
                <a:lnTo>
                  <a:pt x="3142080" y="0"/>
                </a:lnTo>
                <a:lnTo>
                  <a:pt x="3142080" y="1746746"/>
                </a:lnTo>
                <a:lnTo>
                  <a:pt x="0" y="1746746"/>
                </a:lnTo>
                <a:lnTo>
                  <a:pt x="0" y="57888"/>
                </a:lnTo>
                <a:arcTo wR="57887" hR="57888" stAng="10800000" swAng="5400000"/>
                <a:close/>
              </a:path>
            </a:pathLst>
          </a:custGeom>
          <a:solidFill>
            <a:srgbClr val="D9DFF2"/>
          </a:solidFill>
          <a:ln/>
        </p:spPr>
      </p:sp>
      <p:sp>
        <p:nvSpPr>
          <p:cNvPr id="10" name="Text 7"/>
          <p:cNvSpPr/>
          <p:nvPr/>
        </p:nvSpPr>
        <p:spPr>
          <a:xfrm>
            <a:off x="833119" y="3407866"/>
            <a:ext cx="281149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Was Built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3119" y="3765550"/>
            <a:ext cx="281149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functional full-stack meeting intelligence web application featuring evidence-linked summaries, decision and action intelligence, and meeting Q&amp;A and search, integrated with [GenAI model].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809905" y="3242568"/>
            <a:ext cx="3142080" cy="1746746"/>
          </a:xfrm>
          <a:custGeom>
            <a:avLst/>
            <a:gdLst/>
            <a:ahLst/>
            <a:cxnLst/>
            <a:rect l="l" t="t" r="r" b="b"/>
            <a:pathLst>
              <a:path w="3142080" h="1746746">
                <a:moveTo>
                  <a:pt x="0" y="0"/>
                </a:moveTo>
                <a:lnTo>
                  <a:pt x="3084193" y="0"/>
                </a:lnTo>
                <a:arcTo wR="57887" hR="57888" stAng="16200000" swAng="5400000"/>
                <a:lnTo>
                  <a:pt x="3142080" y="1746746"/>
                </a:lnTo>
                <a:lnTo>
                  <a:pt x="0" y="1746746"/>
                </a:lnTo>
                <a:lnTo>
                  <a:pt x="0" y="0"/>
                </a:lnTo>
                <a:close/>
              </a:path>
            </a:pathLst>
          </a:custGeom>
          <a:solidFill>
            <a:srgbClr val="D9DFF2"/>
          </a:solidFill>
          <a:ln/>
        </p:spPr>
      </p:sp>
      <p:sp>
        <p:nvSpPr>
          <p:cNvPr id="13" name="Shape 10"/>
          <p:cNvSpPr/>
          <p:nvPr/>
        </p:nvSpPr>
        <p:spPr>
          <a:xfrm>
            <a:off x="3809905" y="3242568"/>
            <a:ext cx="19050" cy="1746746"/>
          </a:xfrm>
          <a:prstGeom prst="roundRect">
            <a:avLst>
              <a:gd name="adj" fmla="val 49999"/>
            </a:avLst>
          </a:prstGeom>
          <a:solidFill>
            <a:srgbClr val="BFC5D8"/>
          </a:solidFill>
          <a:ln/>
        </p:spPr>
      </p:sp>
      <p:sp>
        <p:nvSpPr>
          <p:cNvPr id="14" name="Text 11"/>
          <p:cNvSpPr/>
          <p:nvPr/>
        </p:nvSpPr>
        <p:spPr>
          <a:xfrm>
            <a:off x="3975199" y="3407866"/>
            <a:ext cx="281149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&amp; Output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975199" y="3765550"/>
            <a:ext cx="281149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produces evidence-linked meeting intelligence that is reviewable, traceable, and actionable, saving users manual note-taking and follow-up effort compared to prior approaches.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67825" y="4989314"/>
            <a:ext cx="6284160" cy="1217513"/>
          </a:xfrm>
          <a:custGeom>
            <a:avLst/>
            <a:gdLst/>
            <a:ahLst/>
            <a:cxnLst/>
            <a:rect l="l" t="t" r="r" b="b"/>
            <a:pathLst>
              <a:path w="6284160" h="1217513">
                <a:moveTo>
                  <a:pt x="0" y="0"/>
                </a:moveTo>
                <a:lnTo>
                  <a:pt x="6284160" y="0"/>
                </a:lnTo>
                <a:lnTo>
                  <a:pt x="6284160" y="1159625"/>
                </a:lnTo>
                <a:arcTo wR="57887" hR="57888" stAng="0" swAng="5400000"/>
                <a:lnTo>
                  <a:pt x="57887" y="1217513"/>
                </a:lnTo>
                <a:arcTo wR="57887" hR="57888" stAng="5400000" swAng="5400000"/>
                <a:lnTo>
                  <a:pt x="0" y="0"/>
                </a:lnTo>
                <a:close/>
              </a:path>
            </a:pathLst>
          </a:custGeom>
          <a:solidFill>
            <a:srgbClr val="D9DFF2"/>
          </a:solidFill>
          <a:ln/>
        </p:spPr>
      </p:sp>
      <p:sp>
        <p:nvSpPr>
          <p:cNvPr id="17" name="Shape 14"/>
          <p:cNvSpPr/>
          <p:nvPr/>
        </p:nvSpPr>
        <p:spPr>
          <a:xfrm>
            <a:off x="667825" y="4989314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BFC5D8"/>
          </a:solidFill>
          <a:ln/>
        </p:spPr>
      </p:sp>
      <p:sp>
        <p:nvSpPr>
          <p:cNvPr id="18" name="Text 15"/>
          <p:cNvSpPr/>
          <p:nvPr/>
        </p:nvSpPr>
        <p:spPr>
          <a:xfrm>
            <a:off x="833119" y="5154613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Learnings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33119" y="5512296"/>
            <a:ext cx="59535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provided hands-on experience in prompt engineering, API integration, full-stack development, and AI output evaluation.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88752"/>
            <a:ext cx="963886" cy="251420"/>
          </a:xfrm>
          <a:prstGeom prst="roundRect">
            <a:avLst>
              <a:gd name="adj" fmla="val 22103"/>
            </a:avLst>
          </a:prstGeom>
          <a:solidFill>
            <a:srgbClr val="D9DFF2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338362"/>
            <a:ext cx="137503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60625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Scope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37103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current implementation establishes a solid foundation. The following enhancements are planned or recommended for future iterations.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21682"/>
            <a:ext cx="330688" cy="3306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8830" y="2878534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Multimodal Input Support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98830" y="3236218"/>
            <a:ext cx="479363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the system to accept image, audio, and video inputs using multimodal GenAI models such as GPT-4o or Gemini 1.5 Pro.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132" y="2821682"/>
            <a:ext cx="330688" cy="3306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36487" y="2878534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Fine-Tuning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736487" y="3236218"/>
            <a:ext cx="479373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Fine-tune the base model on domain-specific datasets to improve output accuracy, relevance, and tone for meeting intelligence.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360763"/>
            <a:ext cx="330688" cy="3306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98830" y="4417616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Multilingual Support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198830" y="4775299"/>
            <a:ext cx="479363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support for additional Indian and international languages to broaden the application's accessibility and user reach.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9132" y="4360763"/>
            <a:ext cx="330688" cy="3306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36487" y="4417616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Production Deployment &amp; Scaling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736487" y="4775299"/>
            <a:ext cx="479373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on a cloud platform (AWS / GCP / Azure) with proper load balancing, caching, and monitoring for real-world scale use.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32222"/>
            <a:ext cx="912889" cy="231676"/>
          </a:xfrm>
          <a:prstGeom prst="roundRect">
            <a:avLst>
              <a:gd name="adj" fmla="val 22113"/>
            </a:avLst>
          </a:prstGeom>
          <a:solidFill>
            <a:srgbClr val="D9DFF2"/>
          </a:solidFill>
          <a:ln/>
        </p:spPr>
      </p:sp>
      <p:sp>
        <p:nvSpPr>
          <p:cNvPr id="3" name="Text 1"/>
          <p:cNvSpPr/>
          <p:nvPr/>
        </p:nvSpPr>
        <p:spPr>
          <a:xfrm>
            <a:off x="752952" y="677962"/>
            <a:ext cx="1339519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12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20055"/>
            <a:ext cx="10868745" cy="47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1475" y="1607344"/>
            <a:ext cx="11478330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sources consulted during the design, development, and evaluation of this project are listed below.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2140347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Model &amp; API Documentation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1475" y="2519065"/>
            <a:ext cx="5248441" cy="801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API Documentation Official Documentation — [URL]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Documentation — [URL]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and Vite Documentation — [URL]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3461147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Papers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1475" y="3839865"/>
            <a:ext cx="5248441" cy="518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[Author(s)], "</a:t>
            </a:r>
            <a:r>
              <a:rPr lang="en-US" sz="12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[Paper Title]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", [Journal / Conference], [Year].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[Author(s)], "</a:t>
            </a:r>
            <a:r>
              <a:rPr lang="en-US" sz="12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[Paper Title]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", [Journal / Conference], [Year].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1475" y="4498380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Datasets &amp; External Resources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1475" y="4877098"/>
            <a:ext cx="5248441" cy="518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[Dataset Name] — [Source / URL]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[External Resource Name] — [Source / URL]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88129" y="2140347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Books &amp; Articles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88129" y="2519065"/>
            <a:ext cx="5248441" cy="518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[Author], </a:t>
            </a:r>
            <a:r>
              <a:rPr lang="en-US" sz="12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[Book Title]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[Publisher], [Year].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[Author], "</a:t>
            </a:r>
            <a:r>
              <a:rPr lang="en-US" sz="12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[Article Title]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", [Publication], [Year].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88129" y="3177580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Websites &amp; Tutorials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88129" y="3556298"/>
            <a:ext cx="5248441" cy="518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[Tutorial / Website Name] — [URL]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[Tutorial / Website Name] — [URL]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88129" y="4214813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GitHub Repositories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88129" y="4593530"/>
            <a:ext cx="5248441" cy="518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[Repository Name] — [GitHub URL]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[Repository Name] — [GitHub URL]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88129" y="5269607"/>
            <a:ext cx="5248441" cy="798116"/>
          </a:xfrm>
          <a:prstGeom prst="roundRect">
            <a:avLst>
              <a:gd name="adj" fmla="val 8024"/>
            </a:avLst>
          </a:prstGeom>
          <a:solidFill>
            <a:srgbClr val="D9DFF2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525" y="5479951"/>
            <a:ext cx="190495" cy="1524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783416" y="5434211"/>
            <a:ext cx="4600758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consistent citation style (e.g., IEEE or APA) throughout this section. Replace all placeholders with actual sources used.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1985</Words>
  <Application>Microsoft Office PowerPoint</Application>
  <PresentationFormat>Widescreen</PresentationFormat>
  <Paragraphs>209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Inter</vt:lpstr>
      <vt:lpstr>Inter Light</vt:lpstr>
      <vt:lpstr>Inter Bold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Raghavendra Rao Shambu Mahendrakar</cp:lastModifiedBy>
  <cp:revision>1</cp:revision>
  <dcterms:created xsi:type="dcterms:W3CDTF">2026-09-29T12:51:20Z</dcterms:created>
  <dcterms:modified xsi:type="dcterms:W3CDTF">2026-09-29T12:52:33Z</dcterms:modified>
</cp:coreProperties>
</file>